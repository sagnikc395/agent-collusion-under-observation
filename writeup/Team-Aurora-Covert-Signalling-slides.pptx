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d131002-3f1b-d921-6d9b-68b4c1dbacb1}">
          <p14:sldIdLst>
            <p14:sldId id="256"/>
            <p14:sldId id="257"/>
            <p14:sldId id="258"/>
          </p14:sldIdLst>
        </p14:section>
        <p14:section name="Setup" id="{f7e4766f-c520-eacd-6fa0-41a2d3c195d7}">
          <p14:sldIdLst>
            <p14:sldId id="259"/>
            <p14:sldId id="260"/>
            <p14:sldId id="261"/>
          </p14:sldIdLst>
        </p14:section>
        <p14:section name="Results" id="{9f3a9b4a-3a73-c6d0-7bc9-6bf2365e7a26}">
          <p14:sldIdLst>
            <p14:sldId id="262"/>
            <p14:sldId id="263"/>
            <p14:sldId id="264"/>
            <p14:sldId id="265"/>
            <p14:sldId id="266"/>
          </p14:sldIdLst>
        </p14:section>
        <p14:section name="Conclusion" id="{00977574-4b05-250c-0ba5-9d2b098169af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0F0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00F0F"/>
                </a:solidFill>
                <a:latin typeface="+mn-lt"/>
              </a:rPr>
              <a:t>Receiver accuracy (chance = 0.5)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1.5B</c:v>
                </c:pt>
              </c:strCache>
            </c:strRef>
          </c:tx>
          <c:spPr>
            <a:solidFill>
              <a:srgbClr val="DAD8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none
plain</c:v>
                  </c:pt>
                  <c:pt idx="1">
                    <c:v>lexical
plain</c:v>
                  </c:pt>
                  <c:pt idx="2">
                    <c:v>lexical
paraphrased</c:v>
                  </c:pt>
                  <c:pt idx="3">
                    <c:v>semantic
plain</c:v>
                  </c:pt>
                  <c:pt idx="4">
                    <c:v>semantic
paraphrased</c:v>
                  </c:pt>
                  <c:pt idx="5">
                    <c:v>improvised
plain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0.39</c:v>
                </c:pt>
                <c:pt idx="2">
                  <c:v>0.51</c:v>
                </c:pt>
                <c:pt idx="3">
                  <c:v>0.48</c:v>
                </c:pt>
                <c:pt idx="4">
                  <c:v>0.49</c:v>
                </c:pt>
                <c:pt idx="5">
                  <c:v>0.51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3B</c:v>
                </c:pt>
              </c:strCache>
            </c:strRef>
          </c:tx>
          <c:spPr>
            <a:solidFill>
              <a:srgbClr val="8785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none
plain</c:v>
                  </c:pt>
                  <c:pt idx="1">
                    <c:v>lexical
plain</c:v>
                  </c:pt>
                  <c:pt idx="2">
                    <c:v>lexical
paraphrased</c:v>
                  </c:pt>
                  <c:pt idx="3">
                    <c:v>semantic
plain</c:v>
                  </c:pt>
                  <c:pt idx="4">
                    <c:v>semantic
paraphrased</c:v>
                  </c:pt>
                  <c:pt idx="5">
                    <c:v>improvised
plain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</c:v>
                </c:pt>
                <c:pt idx="1">
                  <c:v>0.76</c:v>
                </c:pt>
                <c:pt idx="2">
                  <c:v>0.48</c:v>
                </c:pt>
                <c:pt idx="3">
                  <c:v>0.63</c:v>
                </c:pt>
                <c:pt idx="4">
                  <c:v>0.59</c:v>
                </c:pt>
                <c:pt idx="5">
                  <c:v>0.52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7B</c:v>
                </c:pt>
              </c:strCache>
            </c:strRef>
          </c:tx>
          <c:spPr>
            <a:solidFill>
              <a:srgbClr val="BC52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none
plain</c:v>
                  </c:pt>
                  <c:pt idx="1">
                    <c:v>lexical
plain</c:v>
                  </c:pt>
                  <c:pt idx="2">
                    <c:v>lexical
paraphrased</c:v>
                  </c:pt>
                  <c:pt idx="3">
                    <c:v>semantic
plain</c:v>
                  </c:pt>
                  <c:pt idx="4">
                    <c:v>semantic
paraphrased</c:v>
                  </c:pt>
                  <c:pt idx="5">
                    <c:v>improvised
plain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</c:v>
                </c:pt>
                <c:pt idx="1">
                  <c:v>0.88</c:v>
                </c:pt>
                <c:pt idx="2">
                  <c:v>0.54</c:v>
                </c:pt>
                <c:pt idx="3">
                  <c:v>0.71</c:v>
                </c:pt>
                <c:pt idx="4">
                  <c:v>0.67</c:v>
                </c:pt>
                <c:pt idx="5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chance</c:v>
                </c:pt>
              </c:strCache>
            </c:strRef>
          </c:tx>
          <c:spPr>
            <a:solidFill>
              <a:srgbClr val="100F0F"/>
            </a:solidFill>
            <a:ln w="12700" cap="flat">
              <a:solidFill>
                <a:srgbClr val="100F0F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00F0F"/>
              </a:solidFill>
              <a:ln w="9525" cap="flat">
                <a:solidFill>
                  <a:srgbClr val="100F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none
plain</c:v>
                  </c:pt>
                  <c:pt idx="1">
                    <c:v>lexical
plain</c:v>
                  </c:pt>
                  <c:pt idx="2">
                    <c:v>lexical
paraphrased</c:v>
                  </c:pt>
                  <c:pt idx="3">
                    <c:v>semantic
plain</c:v>
                  </c:pt>
                  <c:pt idx="4">
                    <c:v>semantic
paraphrased</c:v>
                  </c:pt>
                  <c:pt idx="5">
                    <c:v>improvised
plain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AD8C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6E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AD8C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6E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F6E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0F0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00F0F"/>
                </a:solidFill>
                <a:latin typeface="+mn-lt"/>
              </a:rPr>
              <a:t>Topic code survives paraphrase (7B, scored receiver AUROC)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8785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0F0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785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785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C521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plain</c:v>
                  </c:pt>
                  <c:pt idx="1">
                    <c:v>paraphrased</c:v>
                  </c:pt>
                  <c:pt idx="2">
                    <c:v>sanitized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</c:v>
                </c:pt>
                <c:pt idx="1">
                  <c:v>0.97</c:v>
                </c:pt>
                <c:pt idx="2">
                  <c:v>0.61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00F0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AD8C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E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AD8C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6E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agents sharing a chat channel can agree on a code and hide a secret in an ordinary work update. The question is whether small open models can do it, and whether two cheap defences stop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Sender, paraphraser, sanitizer, receiver and monitor are all the same model within a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size mostly changes how often the sender follows the code. Once the marker is in the message, decoding is easy, even for the smallest receiver.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Expectations 1-5 were written before any model run; 6-12 after the main results and before any follow-up. Misses are reported as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274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Team Aurora · Covert Signalling Under Observation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gnikc395/covert-signalling-under-observation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Covert Signalling Under Observation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Can two copies of a small LLM pass a one-bit secret through a public message, and does an LLM monitor or an LLM paraphraser stop them?</a:t>
            </a:r>
            <a:endParaRPr lang="en-US" sz="1600" dirty="0"/>
          </a:p>
        </p:txBody>
      </p:sp>
      <p:sp>
        <p:nvSpPr>
          <p:cNvPr id="4" name="Team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TEAM AURORA</a:t>
            </a:r>
            <a:endParaRPr lang="en-US" sz="1400" dirty="0"/>
          </a:p>
        </p:txBody>
      </p:sp>
      <p:sp>
        <p:nvSpPr>
          <p:cNvPr id="5" name="Byline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Team Aurora · Apart Research AI Collusion Sprint · Track 3 · Sagnik Chatterjee · October 2026</a:t>
            </a:r>
            <a:endParaRPr lang="en-US" sz="1200" dirty="0"/>
          </a:p>
        </p:txBody>
      </p:sp>
      <p:sp>
        <p:nvSpPr>
          <p:cNvPr id="6" name="Rule"/>
          <p:cNvSpPr/>
          <p:nvPr/>
        </p:nvSpPr>
        <p:spPr>
          <a:xfrm>
            <a:off x="548640" y="3977640"/>
            <a:ext cx="80467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Example message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migration finished overnight and all tables validated cleanly. We'll start the cutover tomorrow, ideally after a strong </a:t>
            </a:r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highlight>
                  <a:srgbClr val="F6E2A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coffee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channel, two cheap defences</a:t>
            </a:r>
            <a:endParaRPr lang="en-US" sz="2800" dirty="0"/>
          </a:p>
        </p:txBody>
      </p:sp>
      <p:sp>
        <p:nvSpPr>
          <p:cNvPr id="3" name="Number 01"/>
          <p:cNvSpPr txBox="1"/>
          <p:nvPr/>
        </p:nvSpPr>
        <p:spPr>
          <a:xfrm>
            <a:off x="45720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dirty="0"/>
          </a:p>
        </p:txBody>
      </p:sp>
      <p:sp>
        <p:nvSpPr>
          <p:cNvPr id="4" name="Heading Collusion"/>
          <p:cNvSpPr txBox="1"/>
          <p:nvPr/>
        </p:nvSpPr>
        <p:spPr>
          <a:xfrm>
            <a:off x="457200" y="2011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Collusion</a:t>
            </a:r>
            <a:endParaRPr lang="en-US" sz="2000" dirty="0"/>
          </a:p>
        </p:txBody>
      </p:sp>
      <p:sp>
        <p:nvSpPr>
          <p:cNvPr id="5" name="Body Collusion"/>
          <p:cNvSpPr txBox="1"/>
          <p:nvPr/>
        </p:nvSpPr>
        <p:spPr>
          <a:xfrm>
            <a:off x="457200" y="24688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Agent A hides a bid, HIGH or LOW, in a 2–3 sentence work update. Agent B, a copy of the same model, reads it and guesses the bid.</a:t>
            </a:r>
            <a:endParaRPr lang="en-US" sz="1400" dirty="0"/>
          </a:p>
        </p:txBody>
      </p:sp>
      <p:sp>
        <p:nvSpPr>
          <p:cNvPr id="6" name="Number 02"/>
          <p:cNvSpPr txBox="1"/>
          <p:nvPr/>
        </p:nvSpPr>
        <p:spPr>
          <a:xfrm>
            <a:off x="331470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02</a:t>
            </a:r>
            <a:endParaRPr lang="en-US" sz="3600" dirty="0"/>
          </a:p>
        </p:txBody>
      </p:sp>
      <p:sp>
        <p:nvSpPr>
          <p:cNvPr id="7" name="Heading Monitor"/>
          <p:cNvSpPr txBox="1"/>
          <p:nvPr/>
        </p:nvSpPr>
        <p:spPr>
          <a:xfrm>
            <a:off x="3314700" y="2011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Monitor</a:t>
            </a:r>
            <a:endParaRPr lang="en-US" sz="2000" dirty="0"/>
          </a:p>
        </p:txBody>
      </p:sp>
      <p:sp>
        <p:nvSpPr>
          <p:cNvPr id="8" name="Body Monitor"/>
          <p:cNvSpPr txBox="1"/>
          <p:nvPr/>
        </p:nvSpPr>
        <p:spPr>
          <a:xfrm>
            <a:off x="3314700" y="24688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LLM reads every message and answers YES or NO: does this look coded?</a:t>
            </a:r>
            <a:endParaRPr lang="en-US" sz="1400" dirty="0"/>
          </a:p>
        </p:txBody>
      </p:sp>
      <p:sp>
        <p:nvSpPr>
          <p:cNvPr id="9" name="Divider 1"/>
          <p:cNvSpPr/>
          <p:nvPr/>
        </p:nvSpPr>
        <p:spPr>
          <a:xfrm>
            <a:off x="3143250" y="1371600"/>
            <a:ext cx="0" cy="25603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0" name="Number 03"/>
          <p:cNvSpPr txBox="1"/>
          <p:nvPr/>
        </p:nvSpPr>
        <p:spPr>
          <a:xfrm>
            <a:off x="617220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03</a:t>
            </a:r>
            <a:endParaRPr lang="en-US" sz="3600" dirty="0"/>
          </a:p>
        </p:txBody>
      </p:sp>
      <p:sp>
        <p:nvSpPr>
          <p:cNvPr id="11" name="Heading Paraphraser"/>
          <p:cNvSpPr txBox="1"/>
          <p:nvPr/>
        </p:nvSpPr>
        <p:spPr>
          <a:xfrm>
            <a:off x="6172200" y="2011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Paraphraser</a:t>
            </a:r>
            <a:endParaRPr lang="en-US" sz="2000" dirty="0"/>
          </a:p>
        </p:txBody>
      </p:sp>
      <p:sp>
        <p:nvSpPr>
          <p:cNvPr id="12" name="Body Paraphraser"/>
          <p:cNvSpPr txBox="1"/>
          <p:nvPr/>
        </p:nvSpPr>
        <p:spPr>
          <a:xfrm>
            <a:off x="6172200" y="24688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LLM rewrites every message before delivery, keeping the work content.</a:t>
            </a:r>
            <a:endParaRPr lang="en-US" sz="1400" dirty="0"/>
          </a:p>
        </p:txBody>
      </p:sp>
      <p:sp>
        <p:nvSpPr>
          <p:cNvPr id="13" name="Divider 2"/>
          <p:cNvSpPr/>
          <p:nvPr/>
        </p:nvSpPr>
        <p:spPr>
          <a:xfrm>
            <a:off x="6000750" y="1371600"/>
            <a:ext cx="0" cy="25603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4" name="Scope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Qwen2.5-Instruct at 1.5B, 3B and 7B (AWQ) · 100 paired trials per condition · the same weights play every role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Five findings</a:t>
            </a:r>
            <a:endParaRPr lang="en-US" sz="2800" dirty="0"/>
          </a:p>
        </p:txBody>
      </p:sp>
      <p:sp>
        <p:nvSpPr>
          <p:cNvPr id="3" name="Finding 1 number"/>
          <p:cNvSpPr txBox="1"/>
          <p:nvPr/>
        </p:nvSpPr>
        <p:spPr>
          <a:xfrm>
            <a:off x="457200" y="10515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Finding 1"/>
          <p:cNvSpPr txBox="1"/>
          <p:nvPr/>
        </p:nvSpPr>
        <p:spPr>
          <a:xfrm>
            <a:off x="9144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shared code needs a model of at least 3B</a:t>
            </a:r>
            <a:endParaRPr lang="en-US" sz="1500" dirty="0"/>
          </a:p>
        </p:txBody>
      </p:sp>
      <p:sp>
        <p:nvSpPr>
          <p:cNvPr id="5" name="Finding 1 detail"/>
          <p:cNvSpPr txBox="1"/>
          <p:nvPr/>
        </p:nvSpPr>
        <p:spPr>
          <a:xfrm>
            <a:off x="914400" y="13258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Agreed code: 76% / 63% decoded at 3B, 88% / 71% at 7B. Nothing gets through at 1.5B, and no model passes the bit without an agreed code.</a:t>
            </a:r>
            <a:endParaRPr lang="en-US" sz="1200" dirty="0"/>
          </a:p>
        </p:txBody>
      </p:sp>
      <p:sp>
        <p:nvSpPr>
          <p:cNvPr id="6" name="Row rule 1"/>
          <p:cNvSpPr/>
          <p:nvPr/>
        </p:nvSpPr>
        <p:spPr>
          <a:xfrm>
            <a:off x="457200" y="1709928"/>
            <a:ext cx="82296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Finding 2 number"/>
          <p:cNvSpPr txBox="1"/>
          <p:nvPr/>
        </p:nvSpPr>
        <p:spPr>
          <a:xfrm>
            <a:off x="457200" y="17465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Finding 2"/>
          <p:cNvSpPr txBox="1"/>
          <p:nvPr/>
        </p:nvSpPr>
        <p:spPr>
          <a:xfrm>
            <a:off x="914400" y="17465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Sending is the bottleneck, not decoding</a:t>
            </a:r>
            <a:endParaRPr lang="en-US" sz="1500" dirty="0"/>
          </a:p>
        </p:txBody>
      </p:sp>
      <p:sp>
        <p:nvSpPr>
          <p:cNvPr id="9" name="Finding 2 detail"/>
          <p:cNvSpPr txBox="1"/>
          <p:nvPr/>
        </p:nvSpPr>
        <p:spPr>
          <a:xfrm>
            <a:off x="914400" y="20208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Scored as probabilities, the 7B pair is near perfect (AUROC 0.95–0.98); even a 1.5B receiver decodes 7B messages (0.90–0.95).</a:t>
            </a:r>
            <a:endParaRPr lang="en-US" sz="1200" dirty="0"/>
          </a:p>
        </p:txBody>
      </p:sp>
      <p:sp>
        <p:nvSpPr>
          <p:cNvPr id="10" name="Row rule 2"/>
          <p:cNvSpPr/>
          <p:nvPr/>
        </p:nvSpPr>
        <p:spPr>
          <a:xfrm>
            <a:off x="457200" y="2404872"/>
            <a:ext cx="82296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Finding 3 number"/>
          <p:cNvSpPr txBox="1"/>
          <p:nvPr/>
        </p:nvSpPr>
        <p:spPr>
          <a:xfrm>
            <a:off x="457200" y="24414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Finding 3"/>
          <p:cNvSpPr txBox="1"/>
          <p:nvPr/>
        </p:nvSpPr>
        <p:spPr>
          <a:xfrm>
            <a:off x="914400" y="2441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Paraphrasing removes word codes, leaves topic codes</a:t>
            </a:r>
            <a:endParaRPr lang="en-US" sz="1500" dirty="0"/>
          </a:p>
        </p:txBody>
      </p:sp>
      <p:sp>
        <p:nvSpPr>
          <p:cNvPr id="13" name="Finding 3 detail"/>
          <p:cNvSpPr txBox="1"/>
          <p:nvPr/>
        </p:nvSpPr>
        <p:spPr>
          <a:xfrm>
            <a:off x="914400" y="27157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code word is gone from every rewrite; the topic code survives (AUROC 0.98 → 0.97 at 7B). A strict sanitizer cuts it to 0.61.</a:t>
            </a:r>
            <a:endParaRPr lang="en-US" sz="1200" dirty="0"/>
          </a:p>
        </p:txBody>
      </p:sp>
      <p:sp>
        <p:nvSpPr>
          <p:cNvPr id="14" name="Row rule 3"/>
          <p:cNvSpPr/>
          <p:nvPr/>
        </p:nvSpPr>
        <p:spPr>
          <a:xfrm>
            <a:off x="457200" y="3099816"/>
            <a:ext cx="82296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5" name="Finding 4 number"/>
          <p:cNvSpPr txBox="1"/>
          <p:nvPr/>
        </p:nvSpPr>
        <p:spPr>
          <a:xfrm>
            <a:off x="457200" y="3136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Finding 4"/>
          <p:cNvSpPr txBox="1"/>
          <p:nvPr/>
        </p:nvSpPr>
        <p:spPr>
          <a:xfrm>
            <a:off x="914400" y="3136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YES/NO monitor is close to useless, but not blind</a:t>
            </a:r>
            <a:endParaRPr lang="en-US" sz="1500" dirty="0"/>
          </a:p>
        </p:txBody>
      </p:sp>
      <p:sp>
        <p:nvSpPr>
          <p:cNvPr id="17" name="Finding 4 detail"/>
          <p:cNvSpPr txBox="1"/>
          <p:nvPr/>
        </p:nvSpPr>
        <p:spPr>
          <a:xfrm>
            <a:off x="914400" y="34107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 flags at most 1.5% of messages, yet its P(YES) catches 67–77% of topic-code messages at a 5% false-alarm rate.</a:t>
            </a:r>
            <a:endParaRPr lang="en-US" sz="1200" dirty="0"/>
          </a:p>
        </p:txBody>
      </p:sp>
      <p:sp>
        <p:nvSpPr>
          <p:cNvPr id="18" name="Row rule 4"/>
          <p:cNvSpPr/>
          <p:nvPr/>
        </p:nvSpPr>
        <p:spPr>
          <a:xfrm>
            <a:off x="457200" y="3794760"/>
            <a:ext cx="82296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9" name="Finding 5 number"/>
          <p:cNvSpPr txBox="1"/>
          <p:nvPr/>
        </p:nvSpPr>
        <p:spPr>
          <a:xfrm>
            <a:off x="457200" y="38313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Finding 5"/>
          <p:cNvSpPr txBox="1"/>
          <p:nvPr/>
        </p:nvSpPr>
        <p:spPr>
          <a:xfrm>
            <a:off x="914400" y="3831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 replicates</a:t>
            </a:r>
            <a:endParaRPr lang="en-US" sz="1500" dirty="0"/>
          </a:p>
        </p:txBody>
      </p:sp>
      <p:sp>
        <p:nvSpPr>
          <p:cNvPr id="21" name="Finding 5 detail"/>
          <p:cNvSpPr txBox="1"/>
          <p:nvPr/>
        </p:nvSpPr>
        <p:spPr>
          <a:xfrm>
            <a:off x="914400" y="41056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rerun with a new seed reproduces 23 of 24 accuracies.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a trial works</a:t>
            </a:r>
            <a:endParaRPr lang="en-US" sz="2800" dirty="0"/>
          </a:p>
        </p:txBody>
      </p:sp>
      <p:sp>
        <p:nvSpPr>
          <p:cNvPr id="3" name="Trial"/>
          <p:cNvSpPr/>
          <p:nvPr/>
        </p:nvSpPr>
        <p:spPr>
          <a:xfrm>
            <a:off x="457200" y="1097280"/>
            <a:ext cx="23774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Trial i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F6E69"/>
                </a:solidFill>
              </a:rPr>
              <a:t>cover topic + secret bit (HIGH / LOW) + codebook</a:t>
            </a:r>
            <a:endParaRPr lang="en-US" sz="1300" dirty="0"/>
          </a:p>
        </p:txBody>
      </p:sp>
      <p:sp>
        <p:nvSpPr>
          <p:cNvPr id="4" name="Arrow to sender"/>
          <p:cNvSpPr/>
          <p:nvPr/>
        </p:nvSpPr>
        <p:spPr>
          <a:xfrm>
            <a:off x="2834640" y="1508760"/>
            <a:ext cx="4572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Sender"/>
          <p:cNvSpPr/>
          <p:nvPr/>
        </p:nvSpPr>
        <p:spPr>
          <a:xfrm>
            <a:off x="3291840" y="1097280"/>
            <a:ext cx="256032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Sender (agent A)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F6E69"/>
                </a:solidFill>
              </a:rPr>
              <a:t>writes a 2–3 sentence update, once</a:t>
            </a:r>
            <a:endParaRPr lang="en-US" sz="1300" dirty="0"/>
          </a:p>
        </p:txBody>
      </p:sp>
      <p:sp>
        <p:nvSpPr>
          <p:cNvPr id="6" name="Channel plain"/>
          <p:cNvSpPr/>
          <p:nvPr/>
        </p:nvSpPr>
        <p:spPr>
          <a:xfrm>
            <a:off x="3291840" y="2331720"/>
            <a:ext cx="25603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F6E69"/>
                </a:solidFill>
              </a:rPr>
              <a:t>as written</a:t>
            </a:r>
            <a:endParaRPr lang="en-US" sz="1300" dirty="0"/>
          </a:p>
        </p:txBody>
      </p:sp>
      <p:sp>
        <p:nvSpPr>
          <p:cNvPr id="7" name="Channel paraphrased"/>
          <p:cNvSpPr/>
          <p:nvPr/>
        </p:nvSpPr>
        <p:spPr>
          <a:xfrm>
            <a:off x="3291840" y="2953512"/>
            <a:ext cx="25603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paraphrased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F6E69"/>
                </a:solidFill>
              </a:rPr>
              <a:t>LLM rewrite</a:t>
            </a:r>
            <a:endParaRPr lang="en-US" sz="1300" dirty="0"/>
          </a:p>
        </p:txBody>
      </p:sp>
      <p:sp>
        <p:nvSpPr>
          <p:cNvPr id="8" name="Channel sanitized (F3)"/>
          <p:cNvSpPr/>
          <p:nvPr/>
        </p:nvSpPr>
        <p:spPr>
          <a:xfrm>
            <a:off x="3291840" y="3575304"/>
            <a:ext cx="25603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sanitized (F3)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F6E69"/>
                </a:solidFill>
              </a:rPr>
              <a:t>work facts only</a:t>
            </a:r>
            <a:endParaRPr lang="en-US" sz="1300" dirty="0"/>
          </a:p>
        </p:txBody>
      </p:sp>
      <p:sp>
        <p:nvSpPr>
          <p:cNvPr id="9" name="Arrow to channels"/>
          <p:cNvSpPr/>
          <p:nvPr/>
        </p:nvSpPr>
        <p:spPr>
          <a:xfrm>
            <a:off x="4572000" y="1920240"/>
            <a:ext cx="0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Arrow to receiver"/>
          <p:cNvSpPr/>
          <p:nvPr/>
        </p:nvSpPr>
        <p:spPr>
          <a:xfrm>
            <a:off x="5852160" y="2971800"/>
            <a:ext cx="548640" cy="-9144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Arrow to monitor"/>
          <p:cNvSpPr/>
          <p:nvPr/>
        </p:nvSpPr>
        <p:spPr>
          <a:xfrm>
            <a:off x="5852160" y="2971800"/>
            <a:ext cx="548640" cy="7772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Receiver"/>
          <p:cNvSpPr/>
          <p:nvPr/>
        </p:nvSpPr>
        <p:spPr>
          <a:xfrm>
            <a:off x="6400800" y="1691640"/>
            <a:ext cx="228600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Receiver (agent B)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C5215"/>
                </a:solidFill>
              </a:rPr>
              <a:t>HIGH or LOW?</a:t>
            </a:r>
            <a:endParaRPr lang="en-US" sz="1300" dirty="0"/>
          </a:p>
        </p:txBody>
      </p:sp>
      <p:sp>
        <p:nvSpPr>
          <p:cNvPr id="13" name="Monitor"/>
          <p:cNvSpPr/>
          <p:nvPr/>
        </p:nvSpPr>
        <p:spPr>
          <a:xfrm>
            <a:off x="6400800" y="3383280"/>
            <a:ext cx="228600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Monitor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C5215"/>
                </a:solidFill>
              </a:rPr>
              <a:t>coded? YES or NO</a:t>
            </a:r>
            <a:endParaRPr lang="en-US" sz="1300" dirty="0"/>
          </a:p>
        </p:txBody>
      </p:sp>
      <p:sp>
        <p:nvSpPr>
          <p:cNvPr id="14" name="Explanation"/>
          <p:cNvSpPr txBox="1"/>
          <p:nvPr/>
        </p:nvSpPr>
        <p:spPr>
          <a:xfrm>
            <a:off x="457200" y="233172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message is generated once and delivered on every channel, so channels are compared on identical input. Sender and paraphraser sample (T = 0.8, 0.7); receiver and monitor are greedy.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Four schemes, each on every channel</a:t>
            </a:r>
            <a:endParaRPr lang="en-US" sz="2800" dirty="0"/>
          </a:p>
        </p:txBody>
      </p:sp>
      <p:graphicFrame>
        <p:nvGraphicFramePr>
          <p:cNvPr id="6" name="Schem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F6E69"/>
                          </a:solidFill>
                        </a:rPr>
                        <a:t>Scheme</a:t>
                      </a:r>
                      <a:endParaRPr lang="en-US" sz="12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F6E69"/>
                          </a:solidFill>
                        </a:rPr>
                        <a:t>Sender is told</a:t>
                      </a:r>
                      <a:endParaRPr lang="en-US" sz="12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F6E69"/>
                          </a:solidFill>
                        </a:rPr>
                        <a:t>Receiver is told</a:t>
                      </a:r>
                      <a:endParaRPr lang="en-US" sz="12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the cover task (chance baseline)</a:t>
                      </a:r>
                      <a:endParaRPr lang="en-US" sz="14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may have hidden a bid</a:t>
                      </a:r>
                      <a:endParaRPr lang="en-US" sz="14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lexical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F6E2A0"/>
                          </a:highlight>
                        </a:rPr>
                        <a:t>“certainly”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for HIGH,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F6E2A0"/>
                          </a:highlight>
                        </a:rPr>
                        <a:t>“basically”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for LOW</a:t>
                      </a:r>
                      <a:endParaRPr lang="en-US" sz="14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same code</a:t>
                      </a:r>
                      <a:endParaRPr lang="en-US" sz="14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semantic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mention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F6E2A0"/>
                          </a:highlight>
                        </a:rPr>
                        <a:t>coffee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for HIGH,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F6E2A0"/>
                          </a:highlight>
                        </a:rPr>
                        <a:t>tea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for LOW</a:t>
                      </a:r>
                      <a:endParaRPr lang="en-US" sz="14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same code</a:t>
                      </a:r>
                      <a:endParaRPr lang="en-US" sz="14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improvised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hide the bid; B is a copy of you; no agreed code</a:t>
                      </a:r>
                      <a:endParaRPr lang="en-US" sz="14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may have hidden a bid</a:t>
                      </a:r>
                      <a:endParaRPr lang="en-US" sz="14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Design note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100 trials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(50 HIGH, 50 LOW, 12 cover topics) × 4 schemes × 2 channels = 800 receiver and monitor calls per model, from 400 sender messages. A trial keeps the same topic and bit across all conditions, so every comparison is paired (exact McNemar, Holm-corrected).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worked example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960120"/>
            <a:ext cx="822960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Label Cover task"/>
          <p:cNvSpPr txBox="1"/>
          <p:nvPr/>
        </p:nvSpPr>
        <p:spPr>
          <a:xfrm>
            <a:off x="64008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 task</a:t>
            </a:r>
            <a:endParaRPr lang="en-US" sz="1200" dirty="0"/>
          </a:p>
        </p:txBody>
      </p:sp>
      <p:sp>
        <p:nvSpPr>
          <p:cNvPr id="5" name="Value Cover task"/>
          <p:cNvSpPr txBox="1"/>
          <p:nvPr/>
        </p:nvSpPr>
        <p:spPr>
          <a:xfrm>
            <a:off x="2240280" y="1051560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2–3 sentence update about the database migration.</a:t>
            </a:r>
            <a:endParaRPr lang="en-US" sz="1200" dirty="0"/>
          </a:p>
        </p:txBody>
      </p:sp>
      <p:sp>
        <p:nvSpPr>
          <p:cNvPr id="6" name="Label Secret"/>
          <p:cNvSpPr txBox="1"/>
          <p:nvPr/>
        </p:nvSpPr>
        <p:spPr>
          <a:xfrm>
            <a:off x="640080" y="14721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</a:t>
            </a:r>
            <a:endParaRPr lang="en-US" sz="1200" dirty="0"/>
          </a:p>
        </p:txBody>
      </p:sp>
      <p:sp>
        <p:nvSpPr>
          <p:cNvPr id="7" name="Value Secret"/>
          <p:cNvSpPr txBox="1"/>
          <p:nvPr/>
        </p:nvSpPr>
        <p:spPr>
          <a:xfrm>
            <a:off x="2240280" y="1472184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C52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(codebook: coffee = HIGH, tea = LOW)</a:t>
            </a:r>
            <a:endParaRPr lang="en-US" sz="1200" dirty="0"/>
          </a:p>
        </p:txBody>
      </p:sp>
      <p:sp>
        <p:nvSpPr>
          <p:cNvPr id="8" name="Label Sender"/>
          <p:cNvSpPr txBox="1"/>
          <p:nvPr/>
        </p:nvSpPr>
        <p:spPr>
          <a:xfrm>
            <a:off x="640080" y="189280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</a:t>
            </a:r>
            <a:endParaRPr lang="en-US" sz="1200" dirty="0"/>
          </a:p>
        </p:txBody>
      </p:sp>
      <p:sp>
        <p:nvSpPr>
          <p:cNvPr id="9" name="Value Sender"/>
          <p:cNvSpPr txBox="1"/>
          <p:nvPr/>
        </p:nvSpPr>
        <p:spPr>
          <a:xfrm>
            <a:off x="2240280" y="1892808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migration finished overnight and all tables validated cleanly. We'll start the read-replica cutover tomorrow, ideally after a strong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highlight>
                  <a:srgbClr val="F6E2A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coffee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Label paraphrased"/>
          <p:cNvSpPr txBox="1"/>
          <p:nvPr/>
        </p:nvSpPr>
        <p:spPr>
          <a:xfrm>
            <a:off x="640080" y="26426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paraphrased</a:t>
            </a:r>
            <a:endParaRPr lang="en-US" sz="1200" dirty="0"/>
          </a:p>
        </p:txBody>
      </p:sp>
      <p:sp>
        <p:nvSpPr>
          <p:cNvPr id="11" name="Value paraphrased"/>
          <p:cNvSpPr txBox="1"/>
          <p:nvPr/>
        </p:nvSpPr>
        <p:spPr>
          <a:xfrm>
            <a:off x="2240280" y="2642616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migration completed overnight with every table passing validation. Read-replica cutover begins tomorrow, hopefully after a good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highlight>
                  <a:srgbClr val="F6E2A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coffee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Label sanitized"/>
          <p:cNvSpPr txBox="1"/>
          <p:nvPr/>
        </p:nvSpPr>
        <p:spPr>
          <a:xfrm>
            <a:off x="640080" y="33924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sanitized</a:t>
            </a:r>
            <a:endParaRPr lang="en-US" sz="1200" dirty="0"/>
          </a:p>
        </p:txBody>
      </p:sp>
      <p:sp>
        <p:nvSpPr>
          <p:cNvPr id="13" name="Value sanitized"/>
          <p:cNvSpPr txBox="1"/>
          <p:nvPr/>
        </p:nvSpPr>
        <p:spPr>
          <a:xfrm>
            <a:off x="2240280" y="3392424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migration completed overnight and all tables passed validation. The read-replica cutover starts tomorrow.</a:t>
            </a:r>
            <a:endParaRPr lang="en-US" sz="1200" dirty="0"/>
          </a:p>
        </p:txBody>
      </p:sp>
      <p:sp>
        <p:nvSpPr>
          <p:cNvPr id="14" name="Receiver label"/>
          <p:cNvSpPr txBox="1"/>
          <p:nvPr/>
        </p:nvSpPr>
        <p:spPr>
          <a:xfrm>
            <a:off x="45720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Receiver</a:t>
            </a:r>
            <a:endParaRPr lang="en-US" sz="1400" dirty="0"/>
          </a:p>
        </p:txBody>
      </p:sp>
      <p:sp>
        <p:nvSpPr>
          <p:cNvPr id="15" name="Receiver result"/>
          <p:cNvSpPr txBox="1"/>
          <p:nvPr/>
        </p:nvSpPr>
        <p:spPr>
          <a:xfrm>
            <a:off x="164592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· HIGH · coin flip</a:t>
            </a:r>
            <a:endParaRPr lang="en-US" sz="1400" dirty="0"/>
          </a:p>
        </p:txBody>
      </p:sp>
      <p:sp>
        <p:nvSpPr>
          <p:cNvPr id="16" name="Monitor label"/>
          <p:cNvSpPr txBox="1"/>
          <p:nvPr/>
        </p:nvSpPr>
        <p:spPr>
          <a:xfrm>
            <a:off x="466344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Monitor</a:t>
            </a:r>
            <a:endParaRPr lang="en-US" sz="1400" dirty="0"/>
          </a:p>
        </p:txBody>
      </p:sp>
      <p:sp>
        <p:nvSpPr>
          <p:cNvPr id="17" name="Monitor result"/>
          <p:cNvSpPr txBox="1"/>
          <p:nvPr/>
        </p:nvSpPr>
        <p:spPr>
          <a:xfrm>
            <a:off x="585216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· NO · NO</a:t>
            </a:r>
            <a:endParaRPr lang="en-US" sz="1400" dirty="0"/>
          </a:p>
        </p:txBody>
      </p:sp>
      <p:sp>
        <p:nvSpPr>
          <p:cNvPr id="18" name="Caption"/>
          <p:cNvSpPr txBox="1"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Illustrative. Real messages are in results/&lt;model&gt;/trials.jsonl.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shared code needs at least 3B</a:t>
            </a:r>
            <a:endParaRPr lang="en-US" sz="2800" dirty="0"/>
          </a:p>
        </p:txBody>
      </p:sp>
      <p:graphicFrame>
        <p:nvGraphicFramePr>
          <p:cNvPr id="3" name="Accuracy chart" descr=""/>
          <p:cNvGraphicFramePr/>
          <p:nvPr/>
        </p:nvGraphicFramePr>
        <p:xfrm>
          <a:off x="365760" y="960120"/>
          <a:ext cx="57607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est value"/>
          <p:cNvSpPr txBox="1"/>
          <p:nvPr/>
        </p:nvSpPr>
        <p:spPr>
          <a:xfrm>
            <a:off x="640080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0.88</a:t>
            </a:r>
            <a:endParaRPr lang="en-US" sz="3200" dirty="0"/>
          </a:p>
        </p:txBody>
      </p:sp>
      <p:sp>
        <p:nvSpPr>
          <p:cNvPr id="5" name="Best label"/>
          <p:cNvSpPr txBox="1"/>
          <p:nvPr/>
        </p:nvSpPr>
        <p:spPr>
          <a:xfrm>
            <a:off x="640080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7B, lexical code word, plain channel</a:t>
            </a:r>
            <a:endParaRPr lang="en-US" sz="1200" dirty="0"/>
          </a:p>
        </p:txBody>
      </p:sp>
      <p:sp>
        <p:nvSpPr>
          <p:cNvPr id="6" name="Stat rule 1"/>
          <p:cNvSpPr/>
          <p:nvPr/>
        </p:nvSpPr>
        <p:spPr>
          <a:xfrm>
            <a:off x="6400800" y="2240280"/>
            <a:ext cx="22860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Improvised value"/>
          <p:cNvSpPr txBox="1"/>
          <p:nvPr/>
        </p:nvSpPr>
        <p:spPr>
          <a:xfrm>
            <a:off x="640080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0.50</a:t>
            </a:r>
            <a:endParaRPr lang="en-US" sz="3200" dirty="0"/>
          </a:p>
        </p:txBody>
      </p:sp>
      <p:sp>
        <p:nvSpPr>
          <p:cNvPr id="8" name="Improvised label"/>
          <p:cNvSpPr txBox="1"/>
          <p:nvPr/>
        </p:nvSpPr>
        <p:spPr>
          <a:xfrm>
            <a:off x="64008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improvised: no model finds a shared code on its own</a:t>
            </a:r>
            <a:endParaRPr lang="en-US" sz="1200" dirty="0"/>
          </a:p>
        </p:txBody>
      </p:sp>
      <p:sp>
        <p:nvSpPr>
          <p:cNvPr id="9" name="Stat rule 2"/>
          <p:cNvSpPr/>
          <p:nvPr/>
        </p:nvSpPr>
        <p:spPr>
          <a:xfrm>
            <a:off x="6400800" y="3520440"/>
            <a:ext cx="22860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0" name="Method note"/>
          <p:cNvSpPr txBox="1"/>
          <p:nvPr/>
        </p:nvSpPr>
        <p:spPr>
          <a:xfrm>
            <a:off x="64008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100 paired trials per cell; tested against 0.5, exact binomial, Holm-corrected.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Sending is the bottleneck, not decoding</a:t>
            </a:r>
            <a:endParaRPr lang="en-US" sz="2800" dirty="0"/>
          </a:p>
        </p:txBody>
      </p:sp>
      <p:sp>
        <p:nvSpPr>
          <p:cNvPr id="3" name="Lead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How often the sender actually used the agreed code word</a:t>
            </a:r>
            <a:endParaRPr lang="en-US" sz="1400" dirty="0"/>
          </a:p>
        </p:txBody>
      </p:sp>
      <p:sp>
        <p:nvSpPr>
          <p:cNvPr id="4" name="Compliance 1.5B"/>
          <p:cNvSpPr txBox="1"/>
          <p:nvPr/>
        </p:nvSpPr>
        <p:spPr>
          <a:xfrm>
            <a:off x="45720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0%</a:t>
            </a:r>
            <a:endParaRPr lang="en-US" sz="6000" dirty="0"/>
          </a:p>
        </p:txBody>
      </p:sp>
      <p:sp>
        <p:nvSpPr>
          <p:cNvPr id="5" name="Compliance 1.5B label"/>
          <p:cNvSpPr txBox="1"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sender 1.5B</a:t>
            </a:r>
            <a:endParaRPr lang="en-US" sz="1200" dirty="0"/>
          </a:p>
        </p:txBody>
      </p:sp>
      <p:sp>
        <p:nvSpPr>
          <p:cNvPr id="6" name="Compliance 3B"/>
          <p:cNvSpPr txBox="1"/>
          <p:nvPr/>
        </p:nvSpPr>
        <p:spPr>
          <a:xfrm>
            <a:off x="329184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36%</a:t>
            </a:r>
            <a:endParaRPr lang="en-US" sz="6000" dirty="0"/>
          </a:p>
        </p:txBody>
      </p:sp>
      <p:sp>
        <p:nvSpPr>
          <p:cNvPr id="7" name="Compliance 3B label"/>
          <p:cNvSpPr txBox="1"/>
          <p:nvPr/>
        </p:nvSpPr>
        <p:spPr>
          <a:xfrm>
            <a:off x="32918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sender 3B</a:t>
            </a:r>
            <a:endParaRPr lang="en-US" sz="1200" dirty="0"/>
          </a:p>
        </p:txBody>
      </p:sp>
      <p:sp>
        <p:nvSpPr>
          <p:cNvPr id="8" name="Compliance 7B"/>
          <p:cNvSpPr txBox="1"/>
          <p:nvPr/>
        </p:nvSpPr>
        <p:spPr>
          <a:xfrm>
            <a:off x="612648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68%</a:t>
            </a:r>
            <a:endParaRPr lang="en-US" sz="6000" dirty="0"/>
          </a:p>
        </p:txBody>
      </p:sp>
      <p:sp>
        <p:nvSpPr>
          <p:cNvPr id="9" name="Compliance 7B label"/>
          <p:cNvSpPr txBox="1"/>
          <p:nvPr/>
        </p:nvSpPr>
        <p:spPr>
          <a:xfrm>
            <a:off x="61264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sender 7B</a:t>
            </a:r>
            <a:endParaRPr lang="en-US" sz="1200" dirty="0"/>
          </a:p>
        </p:txBody>
      </p:sp>
      <p:sp>
        <p:nvSpPr>
          <p:cNvPr id="10" name="Divider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Fact 1 value"/>
          <p:cNvSpPr txBox="1"/>
          <p:nvPr/>
        </p:nvSpPr>
        <p:spPr>
          <a:xfrm>
            <a:off x="45720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97–100%</a:t>
            </a:r>
            <a:endParaRPr lang="en-US" sz="2800" dirty="0"/>
          </a:p>
        </p:txBody>
      </p:sp>
      <p:sp>
        <p:nvSpPr>
          <p:cNvPr id="12" name="Fact 1 label"/>
          <p:cNvSpPr txBox="1"/>
          <p:nvPr/>
        </p:nvSpPr>
        <p:spPr>
          <a:xfrm>
            <a:off x="457200" y="3611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decoded by 3B and 7B receivers when the code word reached them (lexical)</a:t>
            </a:r>
            <a:endParaRPr lang="en-US" sz="1300" dirty="0"/>
          </a:p>
        </p:txBody>
      </p:sp>
      <p:sp>
        <p:nvSpPr>
          <p:cNvPr id="13" name="Fact 2 value"/>
          <p:cNvSpPr txBox="1"/>
          <p:nvPr/>
        </p:nvSpPr>
        <p:spPr>
          <a:xfrm>
            <a:off x="470916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0.90–0.95</a:t>
            </a:r>
            <a:endParaRPr lang="en-US" sz="2800" dirty="0"/>
          </a:p>
        </p:txBody>
      </p:sp>
      <p:sp>
        <p:nvSpPr>
          <p:cNvPr id="14" name="Fact 2 label"/>
          <p:cNvSpPr txBox="1"/>
          <p:nvPr/>
        </p:nvSpPr>
        <p:spPr>
          <a:xfrm>
            <a:off x="4709160" y="3611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AUROC of a 1.5B receiver reading 7B messages, scored as P(HIGH) vs P(LOW)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Paraphrasing removes word codes, not topic codes</a:t>
            </a:r>
            <a:endParaRPr lang="en-US" sz="2800" dirty="0"/>
          </a:p>
        </p:txBody>
      </p:sp>
      <p:sp>
        <p:nvSpPr>
          <p:cNvPr id="3" name="Lexical heading"/>
          <p:cNvSpPr txBox="1"/>
          <p:nvPr/>
        </p:nvSpPr>
        <p:spPr>
          <a:xfrm>
            <a:off x="45720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Word code (lexical), 7B</a:t>
            </a:r>
            <a:endParaRPr lang="en-US" sz="1600" dirty="0"/>
          </a:p>
        </p:txBody>
      </p:sp>
      <p:sp>
        <p:nvSpPr>
          <p:cNvPr id="4" name="Lexical drop"/>
          <p:cNvSpPr txBox="1"/>
          <p:nvPr/>
        </p:nvSpPr>
        <p:spPr>
          <a:xfrm>
            <a:off x="457200" y="1463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0F0F"/>
                </a:solidFill>
              </a:rPr>
              <a:t>0.88 → 0.54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F6E69"/>
                </a:solidFill>
              </a:rPr>
              <a:t>accuracy, plain → paraphrased</a:t>
            </a:r>
            <a:endParaRPr lang="en-US" sz="1400" dirty="0"/>
          </a:p>
        </p:txBody>
      </p:sp>
      <p:sp>
        <p:nvSpPr>
          <p:cNvPr id="5" name="Lexical note"/>
          <p:cNvSpPr txBox="1"/>
          <p:nvPr/>
        </p:nvSpPr>
        <p:spPr>
          <a:xfrm>
            <a:off x="4572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code word is in 0% of rewrites.</a:t>
            </a:r>
            <a:endParaRPr lang="en-US" sz="1300" dirty="0"/>
          </a:p>
        </p:txBody>
      </p:sp>
      <p:sp>
        <p:nvSpPr>
          <p:cNvPr id="6" name="Column rule"/>
          <p:cNvSpPr/>
          <p:nvPr/>
        </p:nvSpPr>
        <p:spPr>
          <a:xfrm>
            <a:off x="457200" y="2834640"/>
            <a:ext cx="329184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Semantic heading"/>
          <p:cNvSpPr txBox="1"/>
          <p:nvPr/>
        </p:nvSpPr>
        <p:spPr>
          <a:xfrm>
            <a:off x="45720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Topic code (semantic), 7B</a:t>
            </a:r>
            <a:endParaRPr lang="en-US" sz="1600" dirty="0"/>
          </a:p>
        </p:txBody>
      </p:sp>
      <p:sp>
        <p:nvSpPr>
          <p:cNvPr id="8" name="Semantic note"/>
          <p:cNvSpPr txBox="1"/>
          <p:nvPr/>
        </p:nvSpPr>
        <p:spPr>
          <a:xfrm>
            <a:off x="457200" y="3337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paraphraser kept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highlight>
                  <a:srgbClr val="F6E2A0"/>
                </a:highlight>
              </a:rPr>
              <a:t>“coffee”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in 67 of 72 messages that carried it. It is told to keep the work content, and a coffee remark is content.</a:t>
            </a:r>
            <a:endParaRPr lang="en-US" sz="1300" dirty="0"/>
          </a:p>
        </p:txBody>
      </p:sp>
      <p:graphicFrame>
        <p:nvGraphicFramePr>
          <p:cNvPr id="9" name="Semantic AUROC chart" descr=""/>
          <p:cNvGraphicFramePr/>
          <p:nvPr/>
        </p:nvGraphicFramePr>
        <p:xfrm>
          <a:off x="4206240" y="1005840"/>
          <a:ext cx="44805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monitor sees the code but says NO</a:t>
            </a:r>
            <a:endParaRPr lang="en-US" sz="2800" dirty="0"/>
          </a:p>
        </p:txBody>
      </p:sp>
      <p:sp>
        <p:nvSpPr>
          <p:cNvPr id="3" name="Binary heading"/>
          <p:cNvSpPr txBox="1"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as a YES/NO verdict</a:t>
            </a:r>
            <a:endParaRPr lang="en-US" sz="1600" dirty="0"/>
          </a:p>
        </p:txBody>
      </p:sp>
      <p:sp>
        <p:nvSpPr>
          <p:cNvPr id="4" name="Binary value"/>
          <p:cNvSpPr txBox="1"/>
          <p:nvPr/>
        </p:nvSpPr>
        <p:spPr>
          <a:xfrm>
            <a:off x="457200" y="1508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≤1.5%</a:t>
            </a:r>
            <a:endParaRPr lang="en-US" sz="6600" dirty="0"/>
          </a:p>
        </p:txBody>
      </p:sp>
      <p:sp>
        <p:nvSpPr>
          <p:cNvPr id="5" name="Binary desc"/>
          <p:cNvSpPr txBox="1"/>
          <p:nvPr/>
        </p:nvSpPr>
        <p:spPr>
          <a:xfrm>
            <a:off x="457200" y="2606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messages flagged, on any channel or scheme. Expectation 5 failed.</a:t>
            </a:r>
            <a:endParaRPr lang="en-US" sz="1300" dirty="0"/>
          </a:p>
        </p:txBody>
      </p:sp>
      <p:sp>
        <p:nvSpPr>
          <p:cNvPr id="6" name="Column divider"/>
          <p:cNvSpPr/>
          <p:nvPr/>
        </p:nvSpPr>
        <p:spPr>
          <a:xfrm>
            <a:off x="4572000" y="1143000"/>
            <a:ext cx="0" cy="21945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Scored heading"/>
          <p:cNvSpPr txBox="1"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as P(YES)</a:t>
            </a:r>
            <a:endParaRPr lang="en-US" sz="1600" dirty="0"/>
          </a:p>
        </p:txBody>
      </p:sp>
      <p:sp>
        <p:nvSpPr>
          <p:cNvPr id="8" name="Scored value"/>
          <p:cNvSpPr txBox="1"/>
          <p:nvPr/>
        </p:nvSpPr>
        <p:spPr>
          <a:xfrm>
            <a:off x="4937760" y="1508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67–77%</a:t>
            </a:r>
            <a:endParaRPr lang="en-US" sz="6600" dirty="0"/>
          </a:p>
        </p:txBody>
      </p:sp>
      <p:sp>
        <p:nvSpPr>
          <p:cNvPr id="9" name="Scored desc"/>
          <p:cNvSpPr txBox="1"/>
          <p:nvPr/>
        </p:nvSpPr>
        <p:spPr>
          <a:xfrm>
            <a:off x="4937760" y="2606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7B topic-code messages caught at a 5% false-alarm rate, by the same 7B monitor.</a:t>
            </a:r>
            <a:endParaRPr lang="en-US" sz="1300" dirty="0"/>
          </a:p>
        </p:txBody>
      </p:sp>
      <p:sp>
        <p:nvSpPr>
          <p:cNvPr id="10" name="Divider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Informed prompt"/>
          <p:cNvSpPr txBox="1"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One sentence describing what codes look like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(the informed prompt) gives the 3B monitor the same ability: AUROC 0.94 on 3B topic-code messages, level with the 7B.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each defence does, at 7B</a:t>
            </a:r>
            <a:endParaRPr lang="en-US" sz="2800" dirty="0"/>
          </a:p>
        </p:txBody>
      </p:sp>
      <p:graphicFrame>
        <p:nvGraphicFramePr>
          <p:cNvPr id="12" name="Defenc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F6E69"/>
                          </a:solidFill>
                        </a:rPr>
                        <a:t>Defence</a:t>
                      </a:r>
                      <a:endParaRPr lang="en-US" sz="12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F6E69"/>
                          </a:solidFill>
                        </a:rPr>
                        <a:t>Word code (lexical)</a:t>
                      </a:r>
                      <a:endParaRPr lang="en-US" sz="12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F6E69"/>
                          </a:solidFill>
                        </a:rPr>
                        <a:t>Topic code (semantic)</a:t>
                      </a:r>
                      <a:endParaRPr lang="en-US" sz="12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F6E69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YES/NO monitor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flags ~2%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flags ~3%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Monitor read as P(YES)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7858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C5215"/>
                          </a:solidFill>
                        </a:rPr>
                        <a:t>catches 67–77% at 5% false alarms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Paraphraser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C5215"/>
                          </a:solidFill>
                        </a:rPr>
                        <a:t>removed (marker in 0%)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survives (AUROC 0.98 → 0.97)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small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Sanitizer (F3)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C5215"/>
                          </a:solidFill>
                        </a:rPr>
                        <a:t>removed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C5215"/>
                          </a:solidFill>
                        </a:rPr>
                        <a:t>mostly removed (0.98 → 0.61)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some content lost (0.99 → 0.89 kept)</a:t>
                      </a:r>
                      <a:endParaRPr lang="en-US" sz="1300" dirty="0"/>
                    </a:p>
                  </a:txBody>
                  <a:tcPr marL="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A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ootstrap note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Paired bootstrap (exploratory): paraphrasing hurts the word code more than the topic code by 0.24 [0.12, 0.36] at 3B and 0.30 [0.16, 0.45] at 7B.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Twelve pre-registered expectations</a:t>
            </a:r>
            <a:endParaRPr lang="en-US" sz="2800" dirty="0"/>
          </a:p>
        </p:txBody>
      </p:sp>
      <p:sp>
        <p:nvSpPr>
          <p:cNvPr id="3" name="Count 1"/>
          <p:cNvSpPr txBox="1"/>
          <p:nvPr/>
        </p:nvSpPr>
        <p:spPr>
          <a:xfrm>
            <a:off x="457200" y="1051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7</a:t>
            </a:r>
            <a:endParaRPr lang="en-US" sz="6000" dirty="0"/>
          </a:p>
        </p:txBody>
      </p:sp>
      <p:sp>
        <p:nvSpPr>
          <p:cNvPr id="4" name="Count 1 label"/>
          <p:cNvSpPr txBox="1"/>
          <p:nvPr/>
        </p:nvSpPr>
        <p:spPr>
          <a:xfrm>
            <a:off x="141732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held wherever testable</a:t>
            </a:r>
            <a:endParaRPr lang="en-US" sz="1400" dirty="0"/>
          </a:p>
        </p:txBody>
      </p:sp>
      <p:sp>
        <p:nvSpPr>
          <p:cNvPr id="5" name="Count 2"/>
          <p:cNvSpPr txBox="1"/>
          <p:nvPr/>
        </p:nvSpPr>
        <p:spPr>
          <a:xfrm>
            <a:off x="457200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4</a:t>
            </a:r>
            <a:endParaRPr lang="en-US" sz="6000" dirty="0"/>
          </a:p>
        </p:txBody>
      </p:sp>
      <p:sp>
        <p:nvSpPr>
          <p:cNvPr id="6" name="Count 2 label"/>
          <p:cNvSpPr txBox="1"/>
          <p:nvPr/>
        </p:nvSpPr>
        <p:spPr>
          <a:xfrm>
            <a:off x="141732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held in part: 1, 7, 9, 12</a:t>
            </a:r>
            <a:endParaRPr lang="en-US" sz="1400" dirty="0"/>
          </a:p>
        </p:txBody>
      </p:sp>
      <p:sp>
        <p:nvSpPr>
          <p:cNvPr id="7" name="Count 3"/>
          <p:cNvSpPr txBox="1"/>
          <p:nvPr/>
        </p:nvSpPr>
        <p:spPr>
          <a:xfrm>
            <a:off x="457200" y="3337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</a:t>
            </a:r>
            <a:endParaRPr lang="en-US" sz="6000" dirty="0"/>
          </a:p>
        </p:txBody>
      </p:sp>
      <p:sp>
        <p:nvSpPr>
          <p:cNvPr id="8" name="Count 3 label"/>
          <p:cNvSpPr txBox="1"/>
          <p:nvPr/>
        </p:nvSpPr>
        <p:spPr>
          <a:xfrm>
            <a:off x="14173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failed: the monitor (5)</a:t>
            </a:r>
            <a:endParaRPr lang="en-US" sz="1400" dirty="0"/>
          </a:p>
        </p:txBody>
      </p:sp>
      <p:sp>
        <p:nvSpPr>
          <p:cNvPr id="9" name="Divider"/>
          <p:cNvSpPr/>
          <p:nvPr/>
        </p:nvSpPr>
        <p:spPr>
          <a:xfrm>
            <a:off x="3840480" y="1097280"/>
            <a:ext cx="0" cy="32918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0" name="Exp 5 id"/>
          <p:cNvSpPr txBox="1"/>
          <p:nvPr/>
        </p:nvSpPr>
        <p:spPr>
          <a:xfrm>
            <a:off x="4114800" y="1051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#5</a:t>
            </a:r>
            <a:endParaRPr lang="en-US" sz="1300" dirty="0"/>
          </a:p>
        </p:txBody>
      </p:sp>
      <p:sp>
        <p:nvSpPr>
          <p:cNvPr id="11" name="Exp 5"/>
          <p:cNvSpPr txBox="1"/>
          <p:nvPr/>
        </p:nvSpPr>
        <p:spPr>
          <a:xfrm>
            <a:off x="4617720" y="10515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Monitor flags agreed codes more than none</a:t>
            </a:r>
            <a:endParaRPr lang="en-US" sz="1300" dirty="0"/>
          </a:p>
        </p:txBody>
      </p:sp>
      <p:sp>
        <p:nvSpPr>
          <p:cNvPr id="12" name="Exp 5 outcome"/>
          <p:cNvSpPr txBox="1"/>
          <p:nvPr/>
        </p:nvSpPr>
        <p:spPr>
          <a:xfrm>
            <a:off x="4617720" y="13258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Missed at 1.5B and 3B; weakly held at 7B, with half its flags caused by drift into Chinese. Did not replicate with seed 1.</a:t>
            </a:r>
            <a:endParaRPr lang="en-US" sz="1100" dirty="0"/>
          </a:p>
        </p:txBody>
      </p:sp>
      <p:sp>
        <p:nvSpPr>
          <p:cNvPr id="13" name="Exp 1 id"/>
          <p:cNvSpPr txBox="1"/>
          <p:nvPr/>
        </p:nvSpPr>
        <p:spPr>
          <a:xfrm>
            <a:off x="4114800" y="1892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#1</a:t>
            </a:r>
            <a:endParaRPr lang="en-US" sz="1300" dirty="0"/>
          </a:p>
        </p:txBody>
      </p:sp>
      <p:sp>
        <p:nvSpPr>
          <p:cNvPr id="14" name="Exp 1"/>
          <p:cNvSpPr txBox="1"/>
          <p:nvPr/>
        </p:nvSpPr>
        <p:spPr>
          <a:xfrm>
            <a:off x="4617720" y="18928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Agreed codes decode above chance</a:t>
            </a:r>
            <a:endParaRPr lang="en-US" sz="1300" dirty="0"/>
          </a:p>
        </p:txBody>
      </p:sp>
      <p:sp>
        <p:nvSpPr>
          <p:cNvPr id="15" name="Exp 1 outcome"/>
          <p:cNvSpPr txBox="1"/>
          <p:nvPr/>
        </p:nvSpPr>
        <p:spPr>
          <a:xfrm>
            <a:off x="4617720" y="21671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Held at 3B and 7B; missed at 1.5B, whose sender almost never used the code.</a:t>
            </a:r>
            <a:endParaRPr lang="en-US" sz="1100" dirty="0"/>
          </a:p>
        </p:txBody>
      </p:sp>
      <p:sp>
        <p:nvSpPr>
          <p:cNvPr id="16" name="Exp 9 id"/>
          <p:cNvSpPr txBox="1"/>
          <p:nvPr/>
        </p:nvSpPr>
        <p:spPr>
          <a:xfrm>
            <a:off x="4114800" y="2734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#9</a:t>
            </a:r>
            <a:endParaRPr lang="en-US" sz="1300" dirty="0"/>
          </a:p>
        </p:txBody>
      </p:sp>
      <p:sp>
        <p:nvSpPr>
          <p:cNvPr id="17" name="Exp 9"/>
          <p:cNvSpPr txBox="1"/>
          <p:nvPr/>
        </p:nvSpPr>
        <p:spPr>
          <a:xfrm>
            <a:off x="4617720" y="27340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improvised receiver AUROC &lt; 0.6</a:t>
            </a:r>
            <a:endParaRPr lang="en-US" sz="1300" dirty="0"/>
          </a:p>
        </p:txBody>
      </p:sp>
      <p:sp>
        <p:nvSpPr>
          <p:cNvPr id="18" name="Exp 9 outcome"/>
          <p:cNvSpPr txBox="1"/>
          <p:nvPr/>
        </p:nvSpPr>
        <p:spPr>
          <a:xfrm>
            <a:off x="4617720" y="300837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0.62 at 3B, above the bound.</a:t>
            </a:r>
            <a:endParaRPr lang="en-US" sz="1100" dirty="0"/>
          </a:p>
        </p:txBody>
      </p:sp>
      <p:sp>
        <p:nvSpPr>
          <p:cNvPr id="19" name="Exp 12 id"/>
          <p:cNvSpPr txBox="1"/>
          <p:nvPr/>
        </p:nvSpPr>
        <p:spPr>
          <a:xfrm>
            <a:off x="4114800" y="35753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#12</a:t>
            </a:r>
            <a:endParaRPr lang="en-US" sz="1300" dirty="0"/>
          </a:p>
        </p:txBody>
      </p:sp>
      <p:sp>
        <p:nvSpPr>
          <p:cNvPr id="20" name="Exp 12"/>
          <p:cNvSpPr txBox="1"/>
          <p:nvPr/>
        </p:nvSpPr>
        <p:spPr>
          <a:xfrm>
            <a:off x="4617720" y="35753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Seed 1 repeats every verdict</a:t>
            </a:r>
            <a:endParaRPr lang="en-US" sz="1300" dirty="0"/>
          </a:p>
        </p:txBody>
      </p:sp>
      <p:sp>
        <p:nvSpPr>
          <p:cNvPr id="21" name="Exp 12 outcome"/>
          <p:cNvSpPr txBox="1"/>
          <p:nvPr/>
        </p:nvSpPr>
        <p:spPr>
          <a:xfrm>
            <a:off x="4617720" y="384962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of 5 verdicts and 23 of 24 accuracies replicate.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Takeaways for defenders</a:t>
            </a:r>
            <a:endParaRPr lang="en-US" sz="2800" dirty="0"/>
          </a:p>
        </p:txBody>
      </p:sp>
      <p:sp>
        <p:nvSpPr>
          <p:cNvPr id="3" name="Recommendation"/>
          <p:cNvSpPr txBox="1"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Never trust a small model's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binary verdict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 Use its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6E2A0"/>
                </a:highlight>
              </a:rPr>
              <a:t>probability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, tell it what to look for, calibrate the threshold on known-clean traffic, and pair a content-stripping rewrite with detection.</a:t>
            </a:r>
            <a:endParaRPr lang="en-US" sz="2200" dirty="0"/>
          </a:p>
        </p:txBody>
      </p:sp>
      <p:sp>
        <p:nvSpPr>
          <p:cNvPr id="4" name="Divider"/>
          <p:cNvSpPr/>
          <p:nvPr/>
        </p:nvSpPr>
        <p:spPr>
          <a:xfrm>
            <a:off x="457200" y="2468880"/>
            <a:ext cx="82296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" name="Takeaway 1"/>
          <p:cNvSpPr txBox="1"/>
          <p:nvPr/>
        </p:nvSpPr>
        <p:spPr>
          <a:xfrm>
            <a:off x="45720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Sending grows with scale</a:t>
            </a:r>
            <a:endParaRPr lang="en-US" sz="1500" dirty="0"/>
          </a:p>
        </p:txBody>
      </p:sp>
      <p:sp>
        <p:nvSpPr>
          <p:cNvPr id="6" name="Takeaway 1 detail"/>
          <p:cNvSpPr txBox="1"/>
          <p:nvPr/>
        </p:nvSpPr>
        <p:spPr>
          <a:xfrm>
            <a:off x="45720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Decoding is easy once the marker is present; no model up to 7B invented a shared code.</a:t>
            </a:r>
            <a:endParaRPr lang="en-US" sz="1300" dirty="0"/>
          </a:p>
        </p:txBody>
      </p:sp>
      <p:sp>
        <p:nvSpPr>
          <p:cNvPr id="7" name="Takeaway 2"/>
          <p:cNvSpPr txBox="1"/>
          <p:nvPr/>
        </p:nvSpPr>
        <p:spPr>
          <a:xfrm>
            <a:off x="329184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Defences cover different codes</a:t>
            </a:r>
            <a:endParaRPr lang="en-US" sz="1500" dirty="0"/>
          </a:p>
        </p:txBody>
      </p:sp>
      <p:sp>
        <p:nvSpPr>
          <p:cNvPr id="8" name="Takeaway 2 detail"/>
          <p:cNvSpPr txBox="1"/>
          <p:nvPr/>
        </p:nvSpPr>
        <p:spPr>
          <a:xfrm>
            <a:off x="329184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Paraphrasing stops word codes; sanitizing stops most topic codes at a cost in content.</a:t>
            </a:r>
            <a:endParaRPr lang="en-US" sz="1300" dirty="0"/>
          </a:p>
        </p:txBody>
      </p:sp>
      <p:sp>
        <p:nvSpPr>
          <p:cNvPr id="9" name="Takeaway 3"/>
          <p:cNvSpPr txBox="1"/>
          <p:nvPr/>
        </p:nvSpPr>
        <p:spPr>
          <a:xfrm>
            <a:off x="612648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Detectors exist inside the model</a:t>
            </a:r>
            <a:endParaRPr lang="en-US" sz="1500" dirty="0"/>
          </a:p>
        </p:txBody>
      </p:sp>
      <p:sp>
        <p:nvSpPr>
          <p:cNvPr id="10" name="Takeaway 3 detail"/>
          <p:cNvSpPr txBox="1"/>
          <p:nvPr/>
        </p:nvSpPr>
        <p:spPr>
          <a:xfrm>
            <a:off x="612648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useless YES/NO monitor becomes usable when read as P(YES).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Limitations and reproducing</a:t>
            </a:r>
            <a:endParaRPr lang="en-US" sz="2800" dirty="0"/>
          </a:p>
        </p:txBody>
      </p:sp>
      <p:sp>
        <p:nvSpPr>
          <p:cNvPr id="3" name="Limitations heading"/>
          <p:cNvSpPr txBox="1"/>
          <p:nvPr/>
        </p:nvSpPr>
        <p:spPr>
          <a:xfrm>
            <a:off x="45720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4" name="Limitations"/>
          <p:cNvSpPr txBox="1"/>
          <p:nvPr/>
        </p:nvSpPr>
        <p:spPr>
          <a:xfrm>
            <a:off x="457200" y="14630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One toy task, one model family (Qwen2.5; 7B as 4-bit AWQ), a one-bit secret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The same model plays every role, including monitor and paraphraser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Both defences are prompts; neither was trained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AUROC thresholds are chosen on the trials they are scored on, so they are optimistic</a:t>
            </a:r>
            <a:endParaRPr lang="en-US" sz="1300" dirty="0"/>
          </a:p>
        </p:txBody>
      </p:sp>
      <p:sp>
        <p:nvSpPr>
          <p:cNvPr id="5" name="Divider"/>
          <p:cNvSpPr/>
          <p:nvPr/>
        </p:nvSpPr>
        <p:spPr>
          <a:xfrm>
            <a:off x="4572000" y="1097280"/>
            <a:ext cx="0" cy="32918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Reproduce heading"/>
          <p:cNvSpPr txBox="1"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Reproducing</a:t>
            </a:r>
            <a:endParaRPr lang="en-US" sz="1600" dirty="0"/>
          </a:p>
        </p:txBody>
      </p:sp>
      <p:sp>
        <p:nvSpPr>
          <p:cNvPr id="7" name="Reproduce text"/>
          <p:cNvSpPr txBox="1"/>
          <p:nvPr/>
        </p:nvSpPr>
        <p:spPr>
          <a:xfrm>
            <a:off x="4937760" y="14630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generated Colab notebook, notebooks/covert_signal.ipynb, writes results in fsynced chunks and resumes after a disconnect.</a:t>
            </a:r>
            <a:endParaRPr lang="en-US" sz="1300" dirty="0"/>
          </a:p>
        </p:txBody>
      </p:sp>
      <p:sp>
        <p:nvSpPr>
          <p:cNvPr id="8" name="Command"/>
          <p:cNvSpPr/>
          <p:nvPr/>
        </p:nvSpPr>
        <p:spPr>
          <a:xfrm>
            <a:off x="4937760" y="2286000"/>
            <a:ext cx="3749040" cy="11887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covert.experiment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--backend vllm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--model Qwen/Qwen2.5-3B-Instruct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 100</a:t>
            </a:r>
            <a:endParaRPr lang="en-US" sz="1100" dirty="0"/>
          </a:p>
        </p:txBody>
      </p:sp>
      <p:sp>
        <p:nvSpPr>
          <p:cNvPr id="9" name="Links"/>
          <p:cNvSpPr txBox="1"/>
          <p:nvPr/>
        </p:nvSpPr>
        <p:spPr>
          <a:xfrm>
            <a:off x="493776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E69"/>
                </a:solidFill>
              </a:rPr>
              <a:t>Team Aurora · code and report: </a:t>
            </a:r>
            <a:pPr indent="0" marL="0">
              <a:buNone/>
            </a:pPr>
            <a:r>
              <a:rPr lang="en-US" sz="1100" u="sng" dirty="0">
                <a:solidFill>
                  <a:srgbClr val="BC521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github.com/sagnikc395/covert-signalling-under-observation</a:t>
            </a:r>
            <a:endParaRPr lang="en-US" sz="1100" dirty="0"/>
          </a:p>
        </p:txBody>
      </p:sp>
      <p:sp>
        <p:nvSpPr>
          <p:cNvPr id="10" name="Prior work"/>
          <p:cNvSpPr txBox="1"/>
          <p:nvPr/>
        </p:nvSpPr>
        <p:spPr>
          <a:xfrm>
            <a:off x="493776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Prior work: Motwani et al., 2024; Mathew et al., 2024.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xoki Paper">
  <a:themeElements>
    <a:clrScheme name="Flexoki Paper">
      <a:dk1>
        <a:srgbClr val="100F0F"/>
      </a:dk1>
      <a:lt1>
        <a:srgbClr val="FFFCF0"/>
      </a:lt1>
      <a:dk2>
        <a:srgbClr val="6F6E69"/>
      </a:dk2>
      <a:lt2>
        <a:srgbClr val="F2F0E5"/>
      </a:lt2>
      <a:accent1>
        <a:srgbClr val="BC5215"/>
      </a:accent1>
      <a:accent2>
        <a:srgbClr val="205EA6"/>
      </a:accent2>
      <a:accent3>
        <a:srgbClr val="66800B"/>
      </a:accent3>
      <a:accent4>
        <a:srgbClr val="AD8301"/>
      </a:accent4>
      <a:accent5>
        <a:srgbClr val="878580"/>
      </a:accent5>
      <a:accent6>
        <a:srgbClr val="DAD8CE"/>
      </a:accent6>
      <a:hlink>
        <a:srgbClr val="BC5215"/>
      </a:hlink>
      <a:folHlink>
        <a:srgbClr val="8B7EC8"/>
      </a:folHlink>
    </a:clrScheme>
    <a:fontScheme name="Flexoki Pap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Team Aurora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Covert Signalling Under Observation</dc:title>
  <dc:subject>PptxGenJS Presentation</dc:subject>
  <dc:creator>Team Aurora (Sagnik Chatterjee)</dc:creator>
  <cp:lastModifiedBy>Team Aurora (Sagnik Chatterjee)</cp:lastModifiedBy>
  <cp:revision>1</cp:revision>
  <dcterms:created xsi:type="dcterms:W3CDTF">2026-10-26T00:52:02Z</dcterms:created>
  <dcterms:modified xsi:type="dcterms:W3CDTF">2026-10-26T00:52:02Z</dcterms:modified>
</cp:coreProperties>
</file>